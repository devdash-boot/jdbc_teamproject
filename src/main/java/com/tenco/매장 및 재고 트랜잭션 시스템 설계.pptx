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90" y="-6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2613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93615"/>
            <a:ext cx="2619077" cy="2286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912715"/>
            <a:ext cx="11251406" cy="594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Noto Sans KR"/>
              </a:rPr>
              <a:t>매장 및 재고 트랜잭션 시스템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97485"/>
            <a:ext cx="8929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Noto Sans KR"/>
              </a:rPr>
              <a:t>Order · OrderItem · Product · Purchase 간의 재고 동기화 및 트랜잭션 제어 매커니즘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531715"/>
            <a:ext cx="248572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Noto Sans KR"/>
              </a:rPr>
              <a:t>DATABASE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2977" y="2522190"/>
            <a:ext cx="2139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트랜잭션 정합성 설계 명세서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8925"/>
            <a:ext cx="35052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28925"/>
            <a:ext cx="35052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28925"/>
            <a:ext cx="35052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432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432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432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525" y="3257550"/>
            <a:ext cx="17784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325" y="3257550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125" y="3257550"/>
            <a:ext cx="177849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SYSTEM ARCHITECTURE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시스템 핵심 구조 및 메인 도메인 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90950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6대 핵심 엔티티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91000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Noto Sans KR"/>
              </a:rPr>
              <a:t>Admin, Product, Purchase, Store, Order, OrderItem 기반의 관계형 구조.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90950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재고 동기화 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91000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Noto Sans KR"/>
              </a:rPr>
              <a:t>발주 입고 증가와 주문 결제 차감의 양방향 자동 원자적 연동.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90950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관리자 보안 제약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91000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Noto Sans KR"/>
              </a:rPr>
              <a:t>상품 CRUD 조작 시 Admin 권한 검증 레이어 필수 적용.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271F318-DD01-401B-9882-FFA6CB703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61" y="0"/>
            <a:ext cx="7564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6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52775"/>
            <a:ext cx="2628900" cy="154305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152775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3152775"/>
            <a:ext cx="2628900" cy="154305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90900" y="3152775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152775"/>
            <a:ext cx="2628900" cy="154305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3152775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53500" y="3152775"/>
            <a:ext cx="2628900" cy="154305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53500" y="3152775"/>
            <a:ext cx="26289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TRANSACTION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재고(Stock) 생애주기 트랜잭션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81375"/>
            <a:ext cx="2266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단계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3381375"/>
            <a:ext cx="2266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Noto Sans KR"/>
              </a:rPr>
              <a:t>단계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1375"/>
            <a:ext cx="2266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Noto Sans KR"/>
              </a:rPr>
              <a:t>단계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2100" y="3381375"/>
            <a:ext cx="2266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KR"/>
              </a:rPr>
              <a:t>단계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76650"/>
            <a:ext cx="285035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발주 입고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010025"/>
            <a:ext cx="2266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Purchase 신청 시 Product.stock 즉시 증가.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676650"/>
            <a:ext cx="285035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주문 차감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4010025"/>
            <a:ext cx="2266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Order 결제 완료 시 수량만큼 재고 차감.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76650"/>
            <a:ext cx="285035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수량 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10025"/>
            <a:ext cx="2266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OrderItem 수량 변경 시 차액 자동 연산.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676650"/>
            <a:ext cx="285035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주문 취소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4010025"/>
            <a:ext cx="2266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Order 취소 시 재고 환원 및 항목 삭제.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0" y="1785342"/>
            <a:ext cx="5638800" cy="4239815"/>
          </a:xfrm>
          <a:prstGeom prst="roundRect">
            <a:avLst>
              <a:gd name="adj" fmla="val 269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43112"/>
            <a:ext cx="50292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71837"/>
            <a:ext cx="50292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00562"/>
            <a:ext cx="5029200" cy="1266825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2413992"/>
            <a:ext cx="5029200" cy="3306365"/>
          </a:xfrm>
          <a:prstGeom prst="roundRect">
            <a:avLst>
              <a:gd name="adj" fmla="val 230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09812"/>
            <a:ext cx="148232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538537"/>
            <a:ext cx="148232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767262"/>
            <a:ext cx="148232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TRANSACTION DEEP-DIVE :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발주(Purchase) 연동 및 재고 수급 트랜잭션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090142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Noto Sans KR"/>
              </a:rPr>
              <a:t>ATOMIC QUERY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2604492"/>
            <a:ext cx="4743450" cy="2925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monospace"/>
              </a:rPr>
              <a:t>BEGIN TRANSACTION;</a:t>
            </a:r>
            <a:r>
              <a:t>
</a:t>
            </a:r>
            <a:r>
              <a:rPr sz="1200" b="0" i="0" u="none">
                <a:solidFill>
                  <a:srgbClr val="E2E8F0"/>
                </a:solidFill>
                <a:latin typeface="monospace"/>
              </a:rPr>
              <a:t> INSERT INTO purchase (product_id, quantity, unit_price, total_price)</a:t>
            </a:r>
            <a:r>
              <a:t>
</a:t>
            </a:r>
            <a:r>
              <a:rPr sz="1200" b="0" i="0" u="none">
                <a:solidFill>
                  <a:srgbClr val="E2E8F0"/>
                </a:solidFill>
                <a:latin typeface="monospace"/>
              </a:rPr>
              <a:t> VALUES (:productId, :qty, :unitPrice, :totalPrice);</a:t>
            </a:r>
            <a:r>
              <a:t>
</a:t>
            </a:r>
            <a:r>
              <a:rPr sz="1200" b="0" i="0" u="none">
                <a:solidFill>
                  <a:srgbClr val="4ADE80"/>
                </a:solidFill>
                <a:latin typeface="monospace"/>
              </a:rPr>
              <a:t>UPDATE product</a:t>
            </a:r>
            <a:r>
              <a:t>
</a:t>
            </a:r>
            <a:r>
              <a:rPr sz="1200" b="0" i="0" u="none">
                <a:solidFill>
                  <a:srgbClr val="4ADE80"/>
                </a:solidFill>
                <a:latin typeface="monospace"/>
              </a:rPr>
              <a:t>SET stock = stock + :qty</a:t>
            </a:r>
            <a:r>
              <a:t>
</a:t>
            </a:r>
            <a:r>
              <a:rPr sz="1200" b="0" i="0" u="none">
                <a:solidFill>
                  <a:srgbClr val="E2E8F0"/>
                </a:solidFill>
                <a:latin typeface="monospace"/>
              </a:rPr>
              <a:t> WHERE product_id = :productId;</a:t>
            </a:r>
            <a:r>
              <a:t>
</a:t>
            </a:r>
            <a:r>
              <a:rPr sz="1200" b="0" i="0" u="none">
                <a:solidFill>
                  <a:srgbClr val="E2E8F0"/>
                </a:solidFill>
                <a:latin typeface="monospace"/>
              </a:rPr>
              <a:t> COMMIT;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281237"/>
            <a:ext cx="5975746" cy="257175"/>
          </a:xfrm>
          <a:prstGeom prst="rect">
            <a:avLst/>
          </a:prstGeom>
          <a:noFill/>
        </p:spPr>
        <p:txBody>
          <a:bodyPr wrap="none" lIns="2244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Noto Sans KR"/>
              </a:rPr>
              <a:t>발주 신청 (재고 증가)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614612"/>
            <a:ext cx="5691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신청 수량만큼 대상 Product의 stock 값을 즉시 가산 처리.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509962"/>
            <a:ext cx="5975746" cy="257175"/>
          </a:xfrm>
          <a:prstGeom prst="rect">
            <a:avLst/>
          </a:prstGeom>
          <a:noFill/>
        </p:spPr>
        <p:txBody>
          <a:bodyPr wrap="none" lIns="2244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Noto Sans KR"/>
              </a:rPr>
              <a:t>발주 취소 (재고 감소)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843337"/>
            <a:ext cx="5691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기존 신청 수량만큼 Product stock 차감하여 원상 복원.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738687"/>
            <a:ext cx="5975746" cy="257175"/>
          </a:xfrm>
          <a:prstGeom prst="rect">
            <a:avLst/>
          </a:prstGeom>
          <a:noFill/>
        </p:spPr>
        <p:txBody>
          <a:bodyPr wrap="none" lIns="2244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Noto Sans KR"/>
              </a:rPr>
              <a:t>발주 수량 변경 (재고 조정)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5072062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변경 수량과의 차이값을 계산하여 Product stock에 실시간 반영.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6087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6087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6087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TRANSACTION DEEP-DIVE : ORDER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주문 결제 처리 및 실시간 재고 차감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00412"/>
            <a:ext cx="359568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Noto Sans KR"/>
              </a:rPr>
              <a:t>01. 장바구니 루프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19512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다중 상품 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9098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0 선택 입력 전까지 다수 Product 항목을 임시 선택 배열에 추가.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300412"/>
            <a:ext cx="359568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A34A"/>
                </a:solidFill>
                <a:latin typeface="Noto Sans KR"/>
              </a:rPr>
              <a:t>02. 주문/항목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719512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Order &amp; OrderItem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405288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Order 마스터 레코드 생성 및 개별 OrderItem 1:N 릴레이션 매핑.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300412"/>
            <a:ext cx="359568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KR"/>
              </a:rPr>
              <a:t>03. 재고 차감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19512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Stock Deduction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5288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주문 수량만큼 Product.stock 차감 및 재고 부족 시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53340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76550"/>
            <a:ext cx="53340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9450"/>
            <a:ext cx="177849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19450"/>
            <a:ext cx="17784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TRANSACTION DEEP-DIVE : ITEM MODIFICATION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주문 항목(OrderItem) 수정 및 금액 재계산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074" y="3190875"/>
            <a:ext cx="235322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수량 수정 트랜잭션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29025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수량 차이 계산: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변경 전후 수량 변동분 산출.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10025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Product 재고 조정: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수량 증가 시 차감, 감소 시 환원.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91025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Order 총액 재산산: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Order.total_price 자동 업데이트.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4874" y="3190875"/>
            <a:ext cx="235322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상품 삭제 트랜잭션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29025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재고 완복: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삭제 대상 OrderItem 수량만큼 stock 복원.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010025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레코드 제거: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해당 OrderItem DB row 삭제.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391025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상세 내역 갱신: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주문 상세 및 최종 결제 금액 차감.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5600"/>
            <a:ext cx="53340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95600"/>
            <a:ext cx="53340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48025"/>
            <a:ext cx="16311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48025"/>
            <a:ext cx="16311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DOMAIN MODULE 01 :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상품 관리(Product CRUD) 및 재고 모니터링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09925"/>
            <a:ext cx="6175771" cy="285750"/>
          </a:xfrm>
          <a:prstGeom prst="rect">
            <a:avLst/>
          </a:prstGeom>
          <a:noFill/>
        </p:spPr>
        <p:txBody>
          <a:bodyPr wrap="none" lIns="2393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관리자 인증 필수 기능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209925"/>
            <a:ext cx="5629275" cy="285750"/>
          </a:xfrm>
          <a:prstGeom prst="rect">
            <a:avLst/>
          </a:prstGeom>
          <a:noFill/>
        </p:spPr>
        <p:txBody>
          <a:bodyPr wrap="none" lIns="2393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조회 및 임계치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48075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상품 등록: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바코드, 유통기한, 초기 재고 입력.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10025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상품 수정: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가격, 카테고리 등 정보 변경.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371975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상품 삭제: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단종 상품 DB 삭제 제어.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48075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다양한 검색: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상품명 검색 및 ID 기준 검색.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010025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상품명전체: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단순 목록 열람 기능 제공.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371975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KR"/>
              </a:rPr>
              <a:t>재고 부족 감지: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stock 10개 이하 필터링 필터.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25717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043237"/>
            <a:ext cx="25717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43237"/>
            <a:ext cx="25717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043237"/>
            <a:ext cx="25717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8512"/>
            <a:ext cx="207466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338512"/>
            <a:ext cx="207466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338512"/>
            <a:ext cx="207466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338512"/>
            <a:ext cx="207466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DOMAIN MODULE 02 :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관리자(Admin) 인증 및 권한 검증 모듈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38562"/>
            <a:ext cx="265033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로그인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71937"/>
            <a:ext cx="2114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login_id, password 검증 세션 생성.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738562"/>
            <a:ext cx="265033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관리자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4071937"/>
            <a:ext cx="2114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신규 관리자 계정 생성 및 권한 부여.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738562"/>
            <a:ext cx="265033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계정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071937"/>
            <a:ext cx="2114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등록 관리자 목록 조회 및 정보 확인.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738562"/>
            <a:ext cx="265033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로그아웃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4071937"/>
            <a:ext cx="2114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인증 세션 파기 및 일반 권한 전환.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1312"/>
            <a:ext cx="533400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09900"/>
            <a:ext cx="533400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4687"/>
            <a:ext cx="237083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43275"/>
            <a:ext cx="237083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DOMAIN MODULE 03 :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매장 정보(Store) 조회 도메인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00462"/>
            <a:ext cx="61757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매장 전체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00512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KR"/>
              </a:rPr>
              <a:t>전국 지점의 store_id, store_name, region, address 통합 리스트 조회.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829050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지역별 매장 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229100"/>
            <a:ext cx="56292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KR"/>
              </a:rPr>
              <a:t>region 필터를 활용한 권역별 매장 검색 및 위치 정보 서빙.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05175"/>
            <a:ext cx="3505200" cy="1343025"/>
          </a:xfrm>
          <a:prstGeom prst="roundRect">
            <a:avLst>
              <a:gd name="adj" fmla="val 709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05175"/>
            <a:ext cx="3505200" cy="1343025"/>
          </a:xfrm>
          <a:prstGeom prst="roundRect">
            <a:avLst>
              <a:gd name="adj" fmla="val 709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305175"/>
            <a:ext cx="3505200" cy="1343025"/>
          </a:xfrm>
          <a:prstGeom prst="roundRect">
            <a:avLst>
              <a:gd name="adj" fmla="val 709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2098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Noto Sans KR"/>
              </a:rPr>
              <a:t>SUMMARY &amp; ARCHITECTURE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76500"/>
            <a:ext cx="115824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Noto Sans KR"/>
              </a:rPr>
              <a:t>트랜잭션 정합성 수립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81400"/>
            <a:ext cx="387548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0A5FA"/>
                </a:solidFill>
                <a:latin typeface="Noto Sans KR"/>
              </a:rPr>
              <a:t>ACID 원자성 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1477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Noto Sans KR"/>
              </a:rPr>
              <a:t>주문/발주 시 재고 변동 실패 시 전면 Rollback 처리.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81400"/>
            <a:ext cx="387548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ADE80"/>
                </a:solidFill>
                <a:latin typeface="Noto Sans KR"/>
              </a:rPr>
              <a:t>실시간 자동 갱신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91477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Noto Sans KR"/>
              </a:rPr>
              <a:t>OrderItem 변경에 따른 Order 결제 총액 동기화.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81400"/>
            <a:ext cx="3838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7171"/>
                </a:solidFill>
                <a:latin typeface="Noto Sans KR"/>
              </a:rPr>
              <a:t>보안 및 접근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91477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Noto Sans KR"/>
              </a:rPr>
              <a:t>관리자 세션 기반의 Product CRUD 인가 처리.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661</Words>
  <Application>Microsoft Office PowerPoint</Application>
  <PresentationFormat>와이드스크린</PresentationFormat>
  <Paragraphs>91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monospace</vt:lpstr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2026-09-16T05:24:13Z</dcterms:modified>
  <cp:category/>
</cp:coreProperties>
</file>